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1A7ECC-17C9-4319-8F65-8115CB02D56E}" v="2" dt="2026-06-19T06:36:10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ka Jain" userId="2d603a21e45b8dd6" providerId="LiveId" clId="{BA39B58A-6771-4A69-BC37-344718CB21F8}"/>
    <pc:docChg chg="modSld">
      <pc:chgData name="Kanika Jain" userId="2d603a21e45b8dd6" providerId="LiveId" clId="{BA39B58A-6771-4A69-BC37-344718CB21F8}" dt="2026-06-19T06:35:43.266" v="0" actId="1076"/>
      <pc:docMkLst>
        <pc:docMk/>
      </pc:docMkLst>
      <pc:sldChg chg="modSp mod">
        <pc:chgData name="Kanika Jain" userId="2d603a21e45b8dd6" providerId="LiveId" clId="{BA39B58A-6771-4A69-BC37-344718CB21F8}" dt="2026-06-19T06:35:43.266" v="0" actId="1076"/>
        <pc:sldMkLst>
          <pc:docMk/>
          <pc:sldMk cId="2626811331" sldId="258"/>
        </pc:sldMkLst>
        <pc:picChg chg="mod">
          <ac:chgData name="Kanika Jain" userId="2d603a21e45b8dd6" providerId="LiveId" clId="{BA39B58A-6771-4A69-BC37-344718CB21F8}" dt="2026-06-19T06:35:43.266" v="0" actId="1076"/>
          <ac:picMkLst>
            <pc:docMk/>
            <pc:sldMk cId="2626811331" sldId="258"/>
            <ac:picMk id="7" creationId="{3EAE9213-85EC-6CD8-AF65-C02DBE74778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A47916-FB2B-3DE0-2EE4-925F7F1602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91EC3-E32D-12BB-1DCE-05A187BAB3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5A07F-F9E3-415A-A5E2-E01D93103226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C752B-17BF-632C-32DB-65E31EA98A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By Kanika Jain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C0EB7-625A-8495-5D86-04B2952A2F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91D7B-4764-4902-BB0D-E96364622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8949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A130C-E4CD-4270-9762-0E63FAB0AAD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By Kanika Jain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80183-F4A9-4918-9108-6B27A6FE5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25285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629E-D925-A7B2-3488-871E4AC6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52248-D3E8-0CDB-623B-C98C04485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C0C46-0C60-528B-15E4-330EB53CE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2EBA1-D623-56E8-77D3-1AA3CCB5D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80183-F4A9-4918-9108-6B27A6FE5CD4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D1731-20AD-C06D-2895-939E6ED089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1848810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80183-F4A9-4918-9108-6B27A6FE5CD4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C3C6A-5DC6-400B-4397-D310B11CAA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3892367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BED6D-5796-44DB-A0B0-2B69E76A5D3E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0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6C206-F76C-4E2D-A6A8-B938EFE61074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5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87ED-FF38-4958-8DA4-2274F09FF25C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27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30A53-9C97-456C-A947-30B59DCF8851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19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A307-AA4C-4F4D-8488-A42610A50F1F}" type="datetime1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6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03D9-E2D6-4F78-AD04-8E4AFE79627E}" type="datetime1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52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C4FB-A029-40F6-9503-C58A03005F64}" type="datetime1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52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6270-03A2-4412-B7DB-409D6216E7B6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12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9D5BD-5977-40A9-857F-1B7E5049780E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65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56D6-AF95-48B9-BC64-3CB195DBF913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1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1D0A8-4AFA-4CB9-9EF9-A81387FD9ABB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310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C08E-4B88-4C4F-866A-6659F5DB399C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00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03227-78AD-4870-9BA0-AD95F24318EA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429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C597-4074-4D4D-946F-330BD04B128F}" type="datetime1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201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6C23-AA8B-40A5-90E9-DE889C3D7E61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027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6500A-D366-4590-83C5-F337393C8F72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7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19662-9AB3-4E0D-9CA4-D51F59176284}" type="datetime1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By Kanika Jain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383A481-6722-4ED7-BD44-85A037149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45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8B0B-6219-FFAB-837B-841C4DF78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4288" y="1170432"/>
            <a:ext cx="9726168" cy="10410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Coffee Shop Data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AB613-CF5A-A4A8-BCCF-33552D4D9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064" y="3287268"/>
            <a:ext cx="3063240" cy="208940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44ED2-F1D7-F37C-A4F4-C0BC29C9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240287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02C3-C410-E5D4-2714-C83A1F663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3480" y="-82295"/>
            <a:ext cx="5570219" cy="84124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Raw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43F81-9F64-77F1-E830-C8D58540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793" y="758952"/>
            <a:ext cx="10104120" cy="576986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8FFFB6-F144-8B87-6602-170E0022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44067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AE9213-85EC-6CD8-AF65-C02DBE747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763" y="1005841"/>
            <a:ext cx="9884734" cy="557784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3EF791-DF5A-7668-B528-D81420A3B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0592" y="82296"/>
            <a:ext cx="8147304" cy="923545"/>
          </a:xfrm>
        </p:spPr>
        <p:txBody>
          <a:bodyPr>
            <a:noAutofit/>
          </a:bodyPr>
          <a:lstStyle/>
          <a:p>
            <a:r>
              <a:rPr lang="en-IN" sz="4000" b="1" dirty="0"/>
              <a:t>Coffee  Shop Data Dashboard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834A32-8393-178A-49CE-0E1BF4AE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262681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EE83-D9C1-293D-CB51-1243C126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11AEC-4136-7383-D143-8DB295EE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92626"/>
          </a:xfrm>
        </p:spPr>
        <p:txBody>
          <a:bodyPr/>
          <a:lstStyle/>
          <a:p>
            <a:pPr algn="ctr"/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6422D-AD91-8145-6DF8-E673EB6EC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9504" y="1440973"/>
            <a:ext cx="8615108" cy="5069305"/>
          </a:xfrm>
        </p:spPr>
        <p:txBody>
          <a:bodyPr>
            <a:normAutofit/>
          </a:bodyPr>
          <a:lstStyle/>
          <a:p>
            <a:r>
              <a:rPr lang="en-US" sz="1300" dirty="0"/>
              <a:t>📊 </a:t>
            </a:r>
            <a:r>
              <a:rPr lang="en-US" sz="1300" b="1" dirty="0"/>
              <a:t>THE BIG PICTURE</a:t>
            </a:r>
          </a:p>
          <a:p>
            <a:r>
              <a:rPr lang="en-US" sz="1300" dirty="0"/>
              <a:t>Total Revenue: ₹6,98,812 | Jan–Jun 2023</a:t>
            </a:r>
          </a:p>
          <a:p>
            <a:r>
              <a:rPr lang="en-US" sz="1300" dirty="0"/>
              <a:t>Growth: +103.8% (January → June)</a:t>
            </a:r>
          </a:p>
          <a:p>
            <a:r>
              <a:rPr lang="en-US" sz="1300" dirty="0"/>
              <a:t>3 Stores. Nearly equal revenue split (~33% each).</a:t>
            </a:r>
          </a:p>
          <a:p>
            <a:endParaRPr lang="en-US" sz="1300" dirty="0"/>
          </a:p>
          <a:p>
            <a:r>
              <a:rPr lang="en-US" sz="1300" dirty="0"/>
              <a:t>🔑 </a:t>
            </a:r>
            <a:r>
              <a:rPr lang="en-US" sz="1300" b="1" dirty="0"/>
              <a:t>5 KEY INSIGHTS</a:t>
            </a:r>
          </a:p>
          <a:p>
            <a:r>
              <a:rPr lang="en-US" sz="1300" dirty="0"/>
              <a:t>1️⃣ </a:t>
            </a:r>
            <a:r>
              <a:rPr lang="en-US" sz="1300" dirty="0">
                <a:latin typeface="Algerian" panose="04020705040A02060702" pitchFamily="82" charset="0"/>
              </a:rPr>
              <a:t>Coffee leads, Tea follows strong</a:t>
            </a:r>
          </a:p>
          <a:p>
            <a:r>
              <a:rPr lang="en-US" sz="1300" dirty="0"/>
              <a:t>Coffee: 38.6% of revenue | Tea: 28.1%</a:t>
            </a:r>
          </a:p>
          <a:p>
            <a:r>
              <a:rPr lang="en-US" sz="1300" dirty="0"/>
              <a:t>Together → 66.7% of all revenue</a:t>
            </a:r>
          </a:p>
          <a:p>
            <a:r>
              <a:rPr lang="en-US" sz="1300" dirty="0"/>
              <a:t>Top product: Barista Espresso at ₹91,406</a:t>
            </a:r>
          </a:p>
          <a:p>
            <a:endParaRPr lang="en-US" sz="1300" dirty="0"/>
          </a:p>
          <a:p>
            <a:r>
              <a:rPr lang="en-US" sz="1300" dirty="0"/>
              <a:t>2️⃣ </a:t>
            </a:r>
            <a:r>
              <a:rPr lang="en-US" sz="1300" dirty="0">
                <a:latin typeface="Algerian" panose="04020705040A02060702" pitchFamily="82" charset="0"/>
              </a:rPr>
              <a:t>The morning rush IS the busines</a:t>
            </a:r>
            <a:r>
              <a:rPr lang="en-US" sz="1300" dirty="0"/>
              <a:t>s</a:t>
            </a:r>
          </a:p>
          <a:p>
            <a:r>
              <a:rPr lang="en-US" sz="1300" dirty="0"/>
              <a:t>8 AM, 9 AM, 10 AM = 36.7% of daily revenue</a:t>
            </a:r>
          </a:p>
          <a:p>
            <a:r>
              <a:rPr lang="en-US" sz="1300" dirty="0"/>
              <a:t>If your peak 3 hours fail → you've lost more than ⅓ of the day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AA523-DF9A-5E2A-304B-D0C3F2C75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88" y="2628900"/>
            <a:ext cx="2157984" cy="1600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F1B5A-358A-2D4C-BCC4-E0DC6550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352501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B15B-BB4F-06D7-4841-7481AF31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635" y="294926"/>
            <a:ext cx="8911687" cy="692626"/>
          </a:xfrm>
        </p:spPr>
        <p:txBody>
          <a:bodyPr/>
          <a:lstStyle/>
          <a:p>
            <a:pPr algn="ctr"/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0502-E84C-F81D-75EF-819842ED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166653"/>
            <a:ext cx="8615108" cy="5069305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1400" dirty="0"/>
              <a:t>3️⃣ </a:t>
            </a:r>
            <a:r>
              <a:rPr lang="en-US" sz="1400" dirty="0">
                <a:latin typeface="Algerian" panose="04020705040A02060702" pitchFamily="82" charset="0"/>
              </a:rPr>
              <a:t>March–May = hypergrowth window</a:t>
            </a:r>
          </a:p>
          <a:p>
            <a:r>
              <a:rPr lang="en-US" sz="1400" dirty="0"/>
              <a:t>+29.8% → +20.3% → +31.8% MoM</a:t>
            </a:r>
          </a:p>
          <a:p>
            <a:r>
              <a:rPr lang="en-US" sz="1400" dirty="0"/>
              <a:t>February dipped (-6.8%) but the business bounced back hard</a:t>
            </a:r>
          </a:p>
          <a:p>
            <a:endParaRPr lang="en-US" sz="1400" dirty="0"/>
          </a:p>
          <a:p>
            <a:r>
              <a:rPr lang="en-US" sz="1400" dirty="0"/>
              <a:t>4️⃣ </a:t>
            </a:r>
            <a:r>
              <a:rPr lang="en-US" sz="1400" dirty="0">
                <a:latin typeface="Algerian" panose="04020705040A02060702" pitchFamily="82" charset="0"/>
              </a:rPr>
              <a:t>All 3 stores are remarkably balanced</a:t>
            </a:r>
          </a:p>
          <a:p>
            <a:r>
              <a:rPr lang="en-US" sz="1400" dirty="0"/>
              <a:t>Hell's Kitchen: ₹2,36,511</a:t>
            </a:r>
          </a:p>
          <a:p>
            <a:r>
              <a:rPr lang="en-US" sz="1400" dirty="0"/>
              <a:t>Astoria: ₹2,32,244</a:t>
            </a:r>
          </a:p>
          <a:p>
            <a:r>
              <a:rPr lang="en-US" sz="1400" dirty="0"/>
              <a:t>Lower Manhattan: ₹2,30,057</a:t>
            </a:r>
          </a:p>
          <a:p>
            <a:r>
              <a:rPr lang="en-US" sz="1400" dirty="0"/>
              <a:t>No single location is a crutch. That's great operational health.</a:t>
            </a:r>
          </a:p>
          <a:p>
            <a:endParaRPr lang="en-US" sz="1400" dirty="0"/>
          </a:p>
          <a:p>
            <a:r>
              <a:rPr lang="en-US" sz="1400" dirty="0"/>
              <a:t>5️⃣ </a:t>
            </a:r>
            <a:r>
              <a:rPr lang="en-US" sz="1400" dirty="0">
                <a:latin typeface="Algerian" panose="04020705040A02060702" pitchFamily="82" charset="0"/>
              </a:rPr>
              <a:t>Premium products outperform</a:t>
            </a:r>
          </a:p>
          <a:p>
            <a:r>
              <a:rPr lang="en-US" sz="1400" dirty="0"/>
              <a:t>Sustainably Grown Organic Lg: ₹21,152 (Top SKU)</a:t>
            </a:r>
          </a:p>
          <a:p>
            <a:r>
              <a:rPr lang="en-US" sz="1400" dirty="0"/>
              <a:t>Dark Chocolate Lg: ₹21,006</a:t>
            </a:r>
          </a:p>
          <a:p>
            <a:r>
              <a:rPr lang="en-US" sz="1400" dirty="0"/>
              <a:t>Customers will pay more — if the product is worth it.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F9925-F4E9-15C8-C047-96BA38B72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88" y="2628900"/>
            <a:ext cx="2157984" cy="16002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93D5F-6152-5AF7-BE28-CCB05A11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98388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0E71-B014-437A-A129-241A8A6D6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6708" y="423986"/>
            <a:ext cx="8915399" cy="53035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Takeaway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68403-82CF-518B-5F7D-454B7DBDF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1177" y="1225296"/>
            <a:ext cx="8275320" cy="4050792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5600" dirty="0"/>
              <a:t> </a:t>
            </a:r>
            <a:r>
              <a:rPr lang="en-US" sz="1400" b="1" dirty="0"/>
              <a:t>The takeaway?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Peak hours + premium products + a balanced store network = a scalable coffee business model.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What metric surprised you most? Drop it in the comments 👇</a:t>
            </a:r>
          </a:p>
          <a:p>
            <a:endParaRPr lang="en-US" sz="1400" dirty="0"/>
          </a:p>
          <a:p>
            <a:r>
              <a:rPr lang="en-US" sz="1400" dirty="0"/>
              <a:t>#DataAnalytics #BusinessInsights #CoffeeShop #DataVisualization #Excel #PowerBI #RetailAnalytics #LinkedInLearning</a:t>
            </a:r>
            <a:endParaRPr lang="en-IN" sz="14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CC2CA-79FD-4899-99C4-789BBF140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415" y="4978908"/>
            <a:ext cx="2157984" cy="16002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51F4E-306D-9181-37D0-C067D92D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By Kanika Jain</a:t>
            </a:r>
          </a:p>
        </p:txBody>
      </p:sp>
    </p:spTree>
    <p:extLst>
      <p:ext uri="{BB962C8B-B14F-4D97-AF65-F5344CB8AC3E}">
        <p14:creationId xmlns:p14="http://schemas.microsoft.com/office/powerpoint/2010/main" val="26336215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93</TotalTime>
  <Words>295</Words>
  <Application>Microsoft Office PowerPoint</Application>
  <PresentationFormat>Widescreen</PresentationFormat>
  <Paragraphs>52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Century Gothic</vt:lpstr>
      <vt:lpstr>Wingdings</vt:lpstr>
      <vt:lpstr>Wingdings 3</vt:lpstr>
      <vt:lpstr>Wisp</vt:lpstr>
      <vt:lpstr>Coffee Shop Data Dashboard</vt:lpstr>
      <vt:lpstr>Raw Data</vt:lpstr>
      <vt:lpstr>Coffee  Shop Data Dashboard</vt:lpstr>
      <vt:lpstr>Key insights</vt:lpstr>
      <vt:lpstr>Key insights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 Jain</dc:creator>
  <cp:lastModifiedBy>Kanika Jain</cp:lastModifiedBy>
  <cp:revision>2</cp:revision>
  <dcterms:created xsi:type="dcterms:W3CDTF">2026-06-18T18:55:50Z</dcterms:created>
  <dcterms:modified xsi:type="dcterms:W3CDTF">2026-06-19T06:36:21Z</dcterms:modified>
</cp:coreProperties>
</file>